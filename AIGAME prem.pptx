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57" r:id="rId6"/>
    <p:sldId id="258" r:id="rId7"/>
    <p:sldId id="259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FCBF25-DB77-40E7-B645-C9F8921A1844}">
          <p14:sldIdLst>
            <p14:sldId id="256"/>
            <p14:sldId id="257"/>
            <p14:sldId id="258"/>
            <p14:sldId id="259"/>
          </p14:sldIdLst>
        </p14:section>
        <p14:section name="Untitled Section" id="{66B99F7E-8F28-4F6C-BE4E-EDCCFA472BC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42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90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66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7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97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603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6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2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19AC1F3-8DA1-4723-A2FF-91BEEC785B29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38B25BB-48D9-486F-A48E-98E160C23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50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D02CF27-0401-6825-0BBF-DF8865A46B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96645"/>
            <a:ext cx="12192000" cy="27530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Bharatesh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Education Trust’s</a:t>
            </a:r>
            <a:br>
              <a:rPr lang="en-IN" sz="4000" dirty="0"/>
            </a:b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Anuvartik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Mirji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Bharatesh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Technology (AMBIT)</a:t>
            </a:r>
            <a:b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3A2DD-1187-0CE7-267E-F3053790CC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25" y="431498"/>
            <a:ext cx="1908143" cy="1824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160BA7-921D-280E-340B-F346FBD03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768" y="431498"/>
            <a:ext cx="1779807" cy="1824406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15B2EAE-FB31-89DC-A018-D14A08DD5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824014"/>
              </p:ext>
            </p:extLst>
          </p:nvPr>
        </p:nvGraphicFramePr>
        <p:xfrm>
          <a:off x="2032000" y="2747897"/>
          <a:ext cx="8128000" cy="3070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515727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3947074"/>
                    </a:ext>
                  </a:extLst>
                </a:gridCol>
              </a:tblGrid>
              <a:tr h="445994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u="none" dirty="0">
                          <a:solidFill>
                            <a:schemeClr val="tx1"/>
                          </a:solidFill>
                        </a:rPr>
                        <a:t>DEPARTMENT OF ARTIFICIAL INTELLIGENCE AND MACHINE LEARNING</a:t>
                      </a:r>
                      <a:endParaRPr lang="en-IN" b="1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559251"/>
                  </a:ext>
                </a:extLst>
              </a:tr>
              <a:tr h="394883">
                <a:tc>
                  <a:txBody>
                    <a:bodyPr/>
                    <a:lstStyle/>
                    <a:p>
                      <a:r>
                        <a:rPr lang="en-US" dirty="0"/>
                        <a:t>Developed By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  </a:t>
                      </a:r>
                      <a:r>
                        <a:rPr lang="en-US" dirty="0" err="1"/>
                        <a:t>Bhaganna</a:t>
                      </a:r>
                      <a:r>
                        <a:rPr lang="en-US" dirty="0"/>
                        <a:t>  Ashtagi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65667"/>
                  </a:ext>
                </a:extLst>
              </a:tr>
              <a:tr h="445994">
                <a:tc>
                  <a:txBody>
                    <a:bodyPr/>
                    <a:lstStyle/>
                    <a:p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2HB24AI028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43963"/>
                  </a:ext>
                </a:extLst>
              </a:tr>
              <a:tr h="445994">
                <a:tc>
                  <a:txBody>
                    <a:bodyPr/>
                    <a:lstStyle/>
                    <a:p>
                      <a:r>
                        <a:rPr lang="en-US" dirty="0"/>
                        <a:t>Semester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 Sem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61697"/>
                  </a:ext>
                </a:extLst>
              </a:tr>
              <a:tr h="445994">
                <a:tc>
                  <a:txBody>
                    <a:bodyPr/>
                    <a:lstStyle/>
                    <a:p>
                      <a:r>
                        <a:rPr lang="en-US" dirty="0"/>
                        <a:t>Title of The Game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Intelligent  Othello (Human vs AI)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416162"/>
                  </a:ext>
                </a:extLst>
              </a:tr>
              <a:tr h="445994">
                <a:tc>
                  <a:txBody>
                    <a:bodyPr/>
                    <a:lstStyle/>
                    <a:p>
                      <a:r>
                        <a:rPr lang="en-US" dirty="0"/>
                        <a:t>Course 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Artificial  Intelligence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24170"/>
                  </a:ext>
                </a:extLst>
              </a:tr>
              <a:tr h="445994">
                <a:tc>
                  <a:txBody>
                    <a:bodyPr/>
                    <a:lstStyle/>
                    <a:p>
                      <a:r>
                        <a:rPr lang="en-US" dirty="0"/>
                        <a:t>Course  Code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BAD402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455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593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248AA6B-68AC-C213-1256-958A8581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501446"/>
            <a:ext cx="11700388" cy="37362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-: </a:t>
            </a:r>
            <a:r>
              <a:rPr lang="en-IN" sz="31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  &amp;  Objective </a:t>
            </a:r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 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0E5A1-42B8-CF6D-5CC6-60EC39CAFF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1612" y="875071"/>
            <a:ext cx="11700388" cy="769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:-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and develop an intelligent Othello game where a human player competes against an AI using decision-making algorithms.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Specification :-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simulate a two-player adversarial game and allow the AI to make optimal moves based on the current board state.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:-                                                                                                                      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moves (mouse clicks).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board configuration.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 game board with valid moves.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decision (best move).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result (Win/Loss/Draw).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computation time.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follow Othello rules.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Requirements:-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board &amp; pieces ),(Show valid moves (green dots) ),(AI decision making ),(Flip pieces correctly ),(Declare winner).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750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F2D545-137F-C8DF-2C6B-FE99D1358A73}"/>
              </a:ext>
            </a:extLst>
          </p:cNvPr>
          <p:cNvSpPr txBox="1"/>
          <p:nvPr/>
        </p:nvSpPr>
        <p:spPr>
          <a:xfrm>
            <a:off x="-2123768" y="235970"/>
            <a:ext cx="14246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4" algn="ctr"/>
            <a:r>
              <a:rPr lang="en-IN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-: AI Concepts  &amp;  Intelligence </a:t>
            </a: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endParaRPr lang="en-IN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6BDF84-18E5-EC23-DB51-6024E326C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7948" y="1027682"/>
            <a:ext cx="4387280" cy="559434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 :-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Minimax → Decision making.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Alpha-Beta → Faster search.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 → Smart evaluation.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 Limit → Time control.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Best-First → Smart move ordering.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the System :-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Adversarial Search Problem.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Deterministic Environment.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Observable.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Turn-Based Game.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Zero-Sum Game.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4B615C-0D36-EEAC-7E8F-FE6A1C628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6773" y="1027682"/>
            <a:ext cx="4387279" cy="559434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:-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Minimax with Best-First Strategy.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from the current game state.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all possible moves for the current player.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each move using a heuristic function.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moves based on heuristic values (Best-First approach).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 simulate moves for both players (Minimax principle).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each level, maximize AI score and minimize opponent score.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at depth limit or terminal state.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and return the best move.</a:t>
            </a:r>
            <a:endParaRPr lang="en-IN" sz="19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82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C0C8-75F4-DAFF-F69E-4BD71BA3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0"/>
            <a:ext cx="9517627" cy="89473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-: </a:t>
            </a:r>
            <a:r>
              <a:rPr lang="en-IN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 or  Methodology </a:t>
            </a: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09FC02B6-64E4-40EE-6841-1176A8AD1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1081548"/>
            <a:ext cx="4754880" cy="49992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game starts with the standard Othello board setup.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human player (Black ●) makes a move.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calculates and displays valid moves.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 evaluates all possible moves using Minimax.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Moves are prioritized using heuristic (Best-First approach).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best move is selected and applied.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Opponent pieces are flipped accordingly.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 repeats until no moves are left.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winner is decided based on the final score.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9F5C3C83-2CF7-7276-424C-9565D9C305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06" y="894735"/>
            <a:ext cx="4444181" cy="27235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24C6B93-CE80-DB87-9510-25120D6A4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06" y="3785418"/>
            <a:ext cx="4444182" cy="272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727190-A91A-D2FC-D590-5E4463D661EE}"/>
              </a:ext>
            </a:extLst>
          </p:cNvPr>
          <p:cNvSpPr txBox="1"/>
          <p:nvPr/>
        </p:nvSpPr>
        <p:spPr>
          <a:xfrm>
            <a:off x="2289376" y="2436999"/>
            <a:ext cx="761324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4540989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d0539dc-d1da-4227-9361-5ace4b663d9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A71BE01F64CE4B80E65D1691728667" ma:contentTypeVersion="16" ma:contentTypeDescription="Create a new document." ma:contentTypeScope="" ma:versionID="f9a74382a7248202a48c964d5170c8f6">
  <xsd:schema xmlns:xsd="http://www.w3.org/2001/XMLSchema" xmlns:xs="http://www.w3.org/2001/XMLSchema" xmlns:p="http://schemas.microsoft.com/office/2006/metadata/properties" xmlns:ns3="fd0539dc-d1da-4227-9361-5ace4b663d93" xmlns:ns4="b30bdaea-10d5-44fa-ad42-a6b816ae6e22" targetNamespace="http://schemas.microsoft.com/office/2006/metadata/properties" ma:root="true" ma:fieldsID="5ae9d6c4e8083177736c1dd68cad23e3" ns3:_="" ns4:_="">
    <xsd:import namespace="fd0539dc-d1da-4227-9361-5ace4b663d93"/>
    <xsd:import namespace="b30bdaea-10d5-44fa-ad42-a6b816ae6e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0539dc-d1da-4227-9361-5ace4b663d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bdaea-10d5-44fa-ad42-a6b816ae6e2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B42C51-0FDF-4257-845C-9F4D33D04ACD}">
  <ds:schemaRefs>
    <ds:schemaRef ds:uri="http://purl.org/dc/terms/"/>
    <ds:schemaRef ds:uri="http://schemas.microsoft.com/office/2006/documentManagement/types"/>
    <ds:schemaRef ds:uri="http://purl.org/dc/elements/1.1/"/>
    <ds:schemaRef ds:uri="b30bdaea-10d5-44fa-ad42-a6b816ae6e22"/>
    <ds:schemaRef ds:uri="fd0539dc-d1da-4227-9361-5ace4b663d93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D32F81D-915F-45EE-A64B-F9277759C1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819144-FB4C-4CE8-BD3C-C22BC4BB5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0539dc-d1da-4227-9361-5ace4b663d93"/>
    <ds:schemaRef ds:uri="b30bdaea-10d5-44fa-ad42-a6b816ae6e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141</TotalTime>
  <Words>419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Corbel</vt:lpstr>
      <vt:lpstr>Times New Roman</vt:lpstr>
      <vt:lpstr>Wingdings</vt:lpstr>
      <vt:lpstr>Basis</vt:lpstr>
      <vt:lpstr>Bharatesh Education Trust’s Anuvartik Mirji Bharatesh Institute  of Technology (AMBIT)  </vt:lpstr>
      <vt:lpstr>-: Problem  Statement  &amp;  Objective :-   </vt:lpstr>
      <vt:lpstr>PowerPoint Presentation</vt:lpstr>
      <vt:lpstr>                                        -: Working  or  Methodology :-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MANJUNATH NAIK</dc:creator>
  <cp:lastModifiedBy>Prem Ashtagi</cp:lastModifiedBy>
  <cp:revision>2</cp:revision>
  <dcterms:created xsi:type="dcterms:W3CDTF">2026-05-31T15:09:09Z</dcterms:created>
  <dcterms:modified xsi:type="dcterms:W3CDTF">2026-05-31T18:20:38Z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0x010100DEA71BE01F64CE4B80E65D1691728667</vt:lpwstr>
  </property>
</Properties>
</file>